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8E0D8"/>
                </a:solidFill>
                <a:latin typeface="Microsoft YaHei"/>
              </a:rPr>
              <a:t>UNDERSTANDING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8046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</a:rPr>
              <a:t>人工智能入门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3172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DDCEE"/>
                </a:solidFill>
                <a:latin typeface="Microsoft YaHei"/>
              </a:rPr>
              <a:t>从“会用工具”到“理解系统”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1635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2B8D3"/>
                </a:solidFill>
                <a:latin typeface="Microsoft YaHei"/>
              </a:rPr>
              <a:t>面向大学生的基础认知与实践指南</a:t>
            </a:r>
          </a:p>
        </p:txBody>
      </p:sp>
      <p:sp>
        <p:nvSpPr>
          <p:cNvPr id="7" name="Oval 6"/>
          <p:cNvSpPr/>
          <p:nvPr/>
        </p:nvSpPr>
        <p:spPr>
          <a:xfrm>
            <a:off x="8046720" y="1325880"/>
            <a:ext cx="713232" cy="713232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536192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9" name="Oval 8"/>
          <p:cNvSpPr/>
          <p:nvPr/>
        </p:nvSpPr>
        <p:spPr>
          <a:xfrm>
            <a:off x="9189720" y="1965960"/>
            <a:ext cx="713232" cy="713232"/>
          </a:xfrm>
          <a:prstGeom prst="ellipse">
            <a:avLst/>
          </a:prstGeom>
          <a:solidFill>
            <a:srgbClr val="408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2176272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算法</a:t>
            </a:r>
          </a:p>
        </p:txBody>
      </p:sp>
      <p:sp>
        <p:nvSpPr>
          <p:cNvPr id="11" name="Oval 10"/>
          <p:cNvSpPr/>
          <p:nvPr/>
        </p:nvSpPr>
        <p:spPr>
          <a:xfrm>
            <a:off x="10332720" y="2606039"/>
            <a:ext cx="713232" cy="713232"/>
          </a:xfrm>
          <a:prstGeom prst="ellipse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816352"/>
            <a:ext cx="7132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算力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0990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EC4DC"/>
                </a:solidFill>
                <a:latin typeface="Microsoft YaHei"/>
              </a:rPr>
              <a:t>10 页课堂汇报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01 / 基础概念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什么是人工智能？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2749"/>
                </a:solidFill>
                <a:latin typeface="Microsoft YaHei"/>
              </a:rPr>
              <a:t>让机器表现出通常需要人类智能参与的能力：感知、理解、学习、推理与生成。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2423160" cy="1828800"/>
          </a:xfrm>
          <a:prstGeom prst="roundRect">
            <a:avLst/>
          </a:prstGeom>
          <a:solidFill>
            <a:srgbClr val="E0F6F2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73152" cy="1828800"/>
          </a:xfrm>
          <a:prstGeom prst="rect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749"/>
                </a:solidFill>
                <a:latin typeface="Microsoft YaHei"/>
              </a:rPr>
              <a:t>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081528"/>
            <a:ext cx="20391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看懂图像、听懂语音
识别环境中的信号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514600"/>
            <a:ext cx="2423160" cy="1828800"/>
          </a:xfrm>
          <a:prstGeom prst="roundRect">
            <a:avLst/>
          </a:prstGeom>
          <a:solidFill>
            <a:srgbClr val="E8F1FB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514600"/>
            <a:ext cx="73152" cy="1828800"/>
          </a:xfrm>
          <a:prstGeom prst="rect">
            <a:avLst/>
          </a:prstGeom>
          <a:solidFill>
            <a:srgbClr val="408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749"/>
                </a:solidFill>
                <a:latin typeface="Microsoft YaHei"/>
              </a:rPr>
              <a:t>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3081528"/>
            <a:ext cx="20391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处理自然语言
提取意图与上下文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14600"/>
            <a:ext cx="2423160" cy="1828800"/>
          </a:xfrm>
          <a:prstGeom prst="roundRect">
            <a:avLst/>
          </a:prstGeom>
          <a:solidFill>
            <a:srgbClr val="E0F6F2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514600"/>
            <a:ext cx="73152" cy="1828800"/>
          </a:xfrm>
          <a:prstGeom prst="rect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749"/>
                </a:solidFill>
                <a:latin typeface="Microsoft YaHei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081528"/>
            <a:ext cx="20391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基于目标与信息
给出预测或行动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514600"/>
            <a:ext cx="2423160" cy="1828800"/>
          </a:xfrm>
          <a:prstGeom prst="roundRect">
            <a:avLst/>
          </a:prstGeom>
          <a:solidFill>
            <a:srgbClr val="E8F1FB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2514600"/>
            <a:ext cx="73152" cy="1828800"/>
          </a:xfrm>
          <a:prstGeom prst="rect">
            <a:avLst/>
          </a:prstGeom>
          <a:solidFill>
            <a:srgbClr val="CD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67919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749"/>
                </a:solidFill>
                <a:latin typeface="Microsoft YaHei"/>
              </a:rPr>
              <a:t>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3081528"/>
            <a:ext cx="20391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创造文字、图片、代码
形成新的内容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9B91"/>
                </a:solidFill>
                <a:latin typeface="Microsoft YaHei"/>
              </a:rPr>
              <a:t>你每天都在使用 AI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358384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" y="5257800"/>
            <a:ext cx="52669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短视频推荐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669280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" y="5568696"/>
            <a:ext cx="52669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手机语音助手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980176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" y="5879592"/>
            <a:ext cx="52669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地图路线规划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" y="6291072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5" y="6190488"/>
            <a:ext cx="5266944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刷脸解锁与反欺诈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02 / 发展脉络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AI 是一条不断升级的技术路线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83342"/>
                </a:solidFill>
                <a:latin typeface="Microsoft YaHei"/>
              </a:rPr>
              <a:t>从“人写规则”走向“机器从数据中学习”，再到“模型生成内容”。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54680"/>
            <a:ext cx="10149840" cy="54864"/>
          </a:xfrm>
          <a:prstGeom prst="rect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907792"/>
            <a:ext cx="548640" cy="548640"/>
          </a:xfrm>
          <a:prstGeom prst="ellipse">
            <a:avLst/>
          </a:prstGeom>
          <a:solidFill>
            <a:srgbClr val="11274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9B91"/>
                </a:solidFill>
                <a:latin typeface="Microsoft YaHei"/>
              </a:rPr>
              <a:t>1950s–80s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749"/>
                </a:solidFill>
                <a:latin typeface="Microsoft YaHei"/>
              </a:rPr>
              <a:t>规则系统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6512"/>
            <a:ext cx="2103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182"/>
                </a:solidFill>
                <a:latin typeface="Microsoft YaHei"/>
              </a:rPr>
              <a:t>专家把知识写进程序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2907792"/>
            <a:ext cx="548640" cy="548640"/>
          </a:xfrm>
          <a:prstGeom prst="ellipse">
            <a:avLst/>
          </a:prstGeom>
          <a:solidFill>
            <a:srgbClr val="11274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2677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9B91"/>
                </a:solidFill>
                <a:latin typeface="Microsoft YaHei"/>
              </a:rPr>
              <a:t>1990s–2010s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03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749"/>
                </a:solidFill>
                <a:latin typeface="Microsoft YaHei"/>
              </a:rPr>
              <a:t>机器学习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96512"/>
            <a:ext cx="2103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182"/>
                </a:solidFill>
                <a:latin typeface="Microsoft YaHei"/>
              </a:rPr>
              <a:t>从样本中找到规律</a:t>
            </a:r>
          </a:p>
        </p:txBody>
      </p:sp>
      <p:sp>
        <p:nvSpPr>
          <p:cNvPr id="16" name="Oval 15"/>
          <p:cNvSpPr/>
          <p:nvPr/>
        </p:nvSpPr>
        <p:spPr>
          <a:xfrm>
            <a:off x="7132319" y="2907792"/>
            <a:ext cx="548640" cy="548640"/>
          </a:xfrm>
          <a:prstGeom prst="ellipse">
            <a:avLst/>
          </a:prstGeom>
          <a:solidFill>
            <a:srgbClr val="11274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22677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9B91"/>
                </a:solidFill>
                <a:latin typeface="Microsoft YaHei"/>
              </a:rPr>
              <a:t>2010s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3703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749"/>
                </a:solidFill>
                <a:latin typeface="Microsoft YaHei"/>
              </a:rPr>
              <a:t>深度学习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4096512"/>
            <a:ext cx="2103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182"/>
                </a:solidFill>
                <a:latin typeface="Microsoft YaHei"/>
              </a:rPr>
              <a:t>神经网络处理复杂感知</a:t>
            </a:r>
          </a:p>
        </p:txBody>
      </p:sp>
      <p:sp>
        <p:nvSpPr>
          <p:cNvPr id="20" name="Oval 19"/>
          <p:cNvSpPr/>
          <p:nvPr/>
        </p:nvSpPr>
        <p:spPr>
          <a:xfrm>
            <a:off x="9921239" y="2907792"/>
            <a:ext cx="548640" cy="548640"/>
          </a:xfrm>
          <a:prstGeom prst="ellipse">
            <a:avLst/>
          </a:prstGeom>
          <a:solidFill>
            <a:srgbClr val="112749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22677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9B91"/>
                </a:solidFill>
                <a:latin typeface="Microsoft YaHei"/>
              </a:rPr>
              <a:t>2020s–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3703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12749"/>
                </a:solidFill>
                <a:latin typeface="Microsoft YaHei"/>
              </a:rPr>
              <a:t>生成式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4096512"/>
            <a:ext cx="21031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182"/>
                </a:solidFill>
                <a:latin typeface="Microsoft YaHei"/>
              </a:rPr>
              <a:t>模型理解并生成内容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5349240"/>
            <a:ext cx="4434840" cy="310896"/>
          </a:xfrm>
          <a:prstGeom prst="roundRect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5385816"/>
            <a:ext cx="4434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9B91"/>
                </a:solidFill>
                <a:latin typeface="Microsoft YaHei"/>
              </a:rPr>
              <a:t>趋势：规则 → 数据 → 模型 → 协作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03 / 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AI 如何学习？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8686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一个模型的能力，通常来自三件事：数据、算法、算力。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24612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600200"/>
          </a:xfrm>
          <a:prstGeom prst="rect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4048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807208"/>
            <a:ext cx="2862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大量、代表性强的样本
决定模型“见过什么”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40280"/>
            <a:ext cx="324612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240280"/>
            <a:ext cx="73152" cy="1600200"/>
          </a:xfrm>
          <a:prstGeom prst="rect">
            <a:avLst/>
          </a:prstGeom>
          <a:solidFill>
            <a:srgbClr val="408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4048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算法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807208"/>
            <a:ext cx="2862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数学结构与优化方法
决定模型“怎么学”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240280"/>
            <a:ext cx="324612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240280"/>
            <a:ext cx="73152" cy="1600200"/>
          </a:xfrm>
          <a:prstGeom prst="rect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4048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算力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807208"/>
            <a:ext cx="28620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训练设备与工程系统
决定模型“能学多快”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9B91"/>
                </a:solidFill>
                <a:latin typeface="Microsoft YaHei"/>
              </a:rPr>
              <a:t>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35424"/>
            <a:ext cx="8046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3342"/>
                </a:solidFill>
                <a:latin typeface="Microsoft YaHei"/>
              </a:rPr>
              <a:t>数据 → 模型预测 → 计算误差 → 调整参数 → 重复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84CC"/>
                </a:solidFill>
                <a:latin typeface="Microsoft YaHei"/>
              </a:rPr>
              <a:t>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29784"/>
            <a:ext cx="8046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83342"/>
                </a:solidFill>
                <a:latin typeface="Microsoft YaHei"/>
              </a:rPr>
              <a:t>新问题 → 模型计算 → 输出结果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5806440"/>
            <a:ext cx="5394960" cy="310896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5843016"/>
            <a:ext cx="5394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084CC"/>
                </a:solidFill>
                <a:latin typeface="Microsoft YaHei"/>
              </a:rPr>
              <a:t>关键区别：训练是在“学”，推理是在“用”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04 / 核心技术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三类技术，理解 AI 的“能力来源”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337560" cy="2926080"/>
          </a:xfrm>
          <a:prstGeom prst="roundRect">
            <a:avLst/>
          </a:prstGeom>
          <a:solidFill>
            <a:srgbClr val="E0F6F2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2926080"/>
          </a:xfrm>
          <a:prstGeom prst="rect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993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机器学习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395728"/>
            <a:ext cx="295351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342"/>
                </a:solidFill>
                <a:latin typeface="Microsoft YaHei"/>
              </a:rPr>
              <a:t>用数据训练模型
完成分类、预测、推荐
例：垃圾邮件识别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202996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400" b="1">
                <a:solidFill>
                  <a:srgbClr val="109B91"/>
                </a:solidFill>
                <a:latin typeface="Microsoft YaHe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28800"/>
            <a:ext cx="3337560" cy="2926080"/>
          </a:xfrm>
          <a:prstGeom prst="roundRect">
            <a:avLst/>
          </a:prstGeom>
          <a:solidFill>
            <a:srgbClr val="E8F1FB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828800"/>
            <a:ext cx="73152" cy="2926080"/>
          </a:xfrm>
          <a:prstGeom prst="rect">
            <a:avLst/>
          </a:prstGeom>
          <a:solidFill>
            <a:srgbClr val="408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7176" y="1993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深度学习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2395728"/>
            <a:ext cx="295351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342"/>
                </a:solidFill>
                <a:latin typeface="Microsoft YaHei"/>
              </a:rPr>
              <a:t>用多层神经网络
处理图像、语音、文本
例：人脸识别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02996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400" b="1">
                <a:solidFill>
                  <a:srgbClr val="4084CC"/>
                </a:solidFill>
                <a:latin typeface="Microsoft YaHe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3337560" cy="2926080"/>
          </a:xfrm>
          <a:prstGeom prst="roundRect">
            <a:avLst/>
          </a:prstGeom>
          <a:solidFill>
            <a:srgbClr val="FFF5E8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1828800"/>
            <a:ext cx="73152" cy="2926080"/>
          </a:xfrm>
          <a:prstGeom prst="rect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199339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生成式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395728"/>
            <a:ext cx="2953512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342"/>
                </a:solidFill>
                <a:latin typeface="Microsoft YaHei"/>
              </a:rPr>
              <a:t>学习内容分布
生成文字、图片、代码
例：智能写作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5952" y="202996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400" b="1">
                <a:solidFill>
                  <a:srgbClr val="EB8E41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47182"/>
                </a:solidFill>
                <a:latin typeface="Microsoft YaHei"/>
              </a:rPr>
              <a:t>关系可以这样理解：生成式 AI 往往建立在深度学习之上，而深度学习属于机器学习的一类。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05 / 应用场景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AI 正在重塑“学习、工作与创造”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874519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9888" y="2258568"/>
            <a:ext cx="548640" cy="548640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749"/>
                </a:solidFill>
                <a:latin typeface="Microsoft YaHei"/>
              </a:rPr>
              <a:t>教育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1296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83342"/>
                </a:solidFill>
                <a:latin typeface="Microsoft YaHei"/>
              </a:rPr>
              <a:t>个性化练习
学习陪练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1965960"/>
            <a:ext cx="1874519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02735" y="2258568"/>
            <a:ext cx="548640" cy="548640"/>
          </a:xfrm>
          <a:prstGeom prst="ellipse">
            <a:avLst/>
          </a:prstGeom>
          <a:solidFill>
            <a:srgbClr val="408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306324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749"/>
                </a:solidFill>
                <a:latin typeface="Microsoft YaHei"/>
              </a:rPr>
              <a:t>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511296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83342"/>
                </a:solidFill>
                <a:latin typeface="Microsoft YaHei"/>
              </a:rPr>
              <a:t>影像辅助
药物研发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965960"/>
            <a:ext cx="1874519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583" y="2258568"/>
            <a:ext cx="548640" cy="548640"/>
          </a:xfrm>
          <a:prstGeom prst="ellipse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306324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749"/>
                </a:solidFill>
                <a:latin typeface="Microsoft YaHei"/>
              </a:rPr>
              <a:t>科研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3511296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83342"/>
                </a:solidFill>
                <a:latin typeface="Microsoft YaHei"/>
              </a:rPr>
              <a:t>文献整理
实验设计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70064" y="1965960"/>
            <a:ext cx="1874519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28432" y="2258568"/>
            <a:ext cx="548640" cy="548640"/>
          </a:xfrm>
          <a:prstGeom prst="ellipse">
            <a:avLst/>
          </a:prstGeom>
          <a:solidFill>
            <a:srgbClr val="CD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306324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749"/>
                </a:solidFill>
                <a:latin typeface="Microsoft YaHei"/>
              </a:rPr>
              <a:t>创作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511296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83342"/>
                </a:solidFill>
                <a:latin typeface="Microsoft YaHei"/>
              </a:rPr>
              <a:t>文字、图片
视频、音乐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82912" y="1965960"/>
            <a:ext cx="1874519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2258568"/>
            <a:ext cx="548640" cy="548640"/>
          </a:xfrm>
          <a:prstGeom prst="ellipse">
            <a:avLst/>
          </a:prstGeom>
          <a:solidFill>
            <a:srgbClr val="11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3063240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749"/>
                </a:solidFill>
                <a:latin typeface="Microsoft YaHei"/>
              </a:rPr>
              <a:t>产业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3511296"/>
            <a:ext cx="1508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83342"/>
                </a:solidFill>
                <a:latin typeface="Microsoft YaHei"/>
              </a:rPr>
              <a:t>制造质检
智能客服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09B91"/>
                </a:solidFill>
                <a:latin typeface="Microsoft YaHei"/>
              </a:rPr>
              <a:t>判断一个应用是否值得做：它是否降低了成本、提高了质量，或创造了新的可能？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06 / 生成式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大语言模型：像“预测下一个词”的超级引擎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241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83342"/>
                </a:solidFill>
                <a:latin typeface="Microsoft YaHei"/>
              </a:rPr>
              <a:t>它不是把答案存进数据库，而是根据上下文计算最可能的表达。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31546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73152" cy="1417320"/>
          </a:xfrm>
          <a:prstGeom prst="rect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404872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749"/>
                </a:solidFill>
                <a:latin typeface="Microsoft YaHei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807208"/>
            <a:ext cx="2770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问题、背景、约束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41648" y="2724912"/>
            <a:ext cx="457200" cy="320040"/>
          </a:xfrm>
          <a:prstGeom prst="rightArrow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2240280"/>
            <a:ext cx="3154680" cy="1417320"/>
          </a:xfrm>
          <a:prstGeom prst="roundRect">
            <a:avLst/>
          </a:prstGeom>
          <a:solidFill>
            <a:srgbClr val="E8F1FB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2240280"/>
            <a:ext cx="73152" cy="1417320"/>
          </a:xfrm>
          <a:prstGeom prst="rect">
            <a:avLst/>
          </a:prstGeom>
          <a:solidFill>
            <a:srgbClr val="408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404872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749"/>
                </a:solidFill>
                <a:latin typeface="Microsoft YaHei"/>
              </a:rPr>
              <a:t>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807208"/>
            <a:ext cx="2770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理解上下文
预测序列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72400" y="2724912"/>
            <a:ext cx="457200" cy="320040"/>
          </a:xfrm>
          <a:prstGeom prst="rightArrow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2240280"/>
            <a:ext cx="3154680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2240280"/>
            <a:ext cx="73152" cy="1417320"/>
          </a:xfrm>
          <a:prstGeom prst="rect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404872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12749"/>
                </a:solidFill>
                <a:latin typeface="Microsoft YaHei"/>
              </a:rPr>
              <a:t>输出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807208"/>
            <a:ext cx="277063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文字、代码、方案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9B91"/>
                </a:solidFill>
                <a:latin typeface="Microsoft YaHei"/>
              </a:rPr>
              <a:t>擅长</a:t>
            </a:r>
          </a:p>
        </p:txBody>
      </p:sp>
      <p:sp>
        <p:nvSpPr>
          <p:cNvPr id="22" name="Oval 21"/>
          <p:cNvSpPr/>
          <p:nvPr/>
        </p:nvSpPr>
        <p:spPr>
          <a:xfrm>
            <a:off x="1828800" y="4379976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48256" y="4279392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总结与改写</a:t>
            </a:r>
          </a:p>
        </p:txBody>
      </p:sp>
      <p:sp>
        <p:nvSpPr>
          <p:cNvPr id="24" name="Oval 23"/>
          <p:cNvSpPr/>
          <p:nvPr/>
        </p:nvSpPr>
        <p:spPr>
          <a:xfrm>
            <a:off x="1828800" y="4727448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48256" y="4626864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头脑风暴</a:t>
            </a:r>
          </a:p>
        </p:txBody>
      </p:sp>
      <p:sp>
        <p:nvSpPr>
          <p:cNvPr id="26" name="Oval 25"/>
          <p:cNvSpPr/>
          <p:nvPr/>
        </p:nvSpPr>
        <p:spPr>
          <a:xfrm>
            <a:off x="1828800" y="5074920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48256" y="4974336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代码辅助</a:t>
            </a:r>
          </a:p>
        </p:txBody>
      </p:sp>
      <p:sp>
        <p:nvSpPr>
          <p:cNvPr id="28" name="Oval 27"/>
          <p:cNvSpPr/>
          <p:nvPr/>
        </p:nvSpPr>
        <p:spPr>
          <a:xfrm>
            <a:off x="1828800" y="5422392"/>
            <a:ext cx="109728" cy="109728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48256" y="5321808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多轮对话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3434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8E41"/>
                </a:solidFill>
                <a:latin typeface="Microsoft YaHei"/>
              </a:rPr>
              <a:t>边界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0" y="4379976"/>
            <a:ext cx="109728" cy="109728"/>
          </a:xfrm>
          <a:prstGeom prst="ellipse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279392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可能产生幻觉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0" y="4727448"/>
            <a:ext cx="109728" cy="109728"/>
          </a:xfrm>
          <a:prstGeom prst="ellipse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6" y="4626864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不等于事实核验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5074920"/>
            <a:ext cx="109728" cy="109728"/>
          </a:xfrm>
          <a:prstGeom prst="ellipse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6" y="4974336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依赖提示与上下文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0" y="5422392"/>
            <a:ext cx="109728" cy="109728"/>
          </a:xfrm>
          <a:prstGeom prst="ellipse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34656" y="5321808"/>
            <a:ext cx="36210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不能替代专业责任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07 / 风险意识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越强大的工具，越需要边界感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98348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73152" cy="1097280"/>
          </a:xfrm>
          <a:prstGeom prst="rect">
            <a:avLst/>
          </a:prstGeom>
          <a:solidFill>
            <a:srgbClr val="CD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99339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749"/>
                </a:solidFill>
                <a:latin typeface="Microsoft YaHei"/>
              </a:rPr>
              <a:t>幻觉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395728"/>
            <a:ext cx="4599432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看似流畅，但事实可能错误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498348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73152" cy="1097280"/>
          </a:xfrm>
          <a:prstGeom prst="rect">
            <a:avLst/>
          </a:prstGeom>
          <a:solidFill>
            <a:srgbClr val="EB8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536" y="199339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749"/>
                </a:solidFill>
                <a:latin typeface="Microsoft YaHei"/>
              </a:rPr>
              <a:t>偏见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395728"/>
            <a:ext cx="4599432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数据与目标可能放大不公平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37560"/>
            <a:ext cx="498348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337560"/>
            <a:ext cx="73152" cy="1097280"/>
          </a:xfrm>
          <a:prstGeom prst="rect">
            <a:avLst/>
          </a:prstGeom>
          <a:solidFill>
            <a:srgbClr val="408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50215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749"/>
                </a:solidFill>
                <a:latin typeface="Microsoft YaHei"/>
              </a:rPr>
              <a:t>隐私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" y="3904487"/>
            <a:ext cx="4599432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敏感信息不应随意上传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337560"/>
            <a:ext cx="498348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337560"/>
            <a:ext cx="73152" cy="1097280"/>
          </a:xfrm>
          <a:prstGeom prst="rect">
            <a:avLst/>
          </a:prstGeom>
          <a:solidFill>
            <a:srgbClr val="112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3502152"/>
            <a:ext cx="4617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2749"/>
                </a:solidFill>
                <a:latin typeface="Microsoft YaHei"/>
              </a:rPr>
              <a:t>版权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904487"/>
            <a:ext cx="4599432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83342"/>
                </a:solidFill>
                <a:latin typeface="Microsoft YaHei"/>
              </a:rPr>
              <a:t>来源、授权与生成内容需核验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0280" y="5166360"/>
            <a:ext cx="7680960" cy="310896"/>
          </a:xfrm>
          <a:prstGeom prst="roundRect">
            <a:avLst/>
          </a:prstGeom>
          <a:solidFill>
            <a:srgbClr val="E0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5202936"/>
            <a:ext cx="7680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09B91"/>
                </a:solidFill>
                <a:latin typeface="Microsoft YaHei"/>
              </a:rPr>
              <a:t>原则：重要事实要核验，敏感信息要保护，关键决策要负责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9B91"/>
                </a:solidFill>
                <a:latin typeface="Microsoft YaHei"/>
              </a:rPr>
              <a:t>08 / 使用方法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2749"/>
                </a:solidFill>
                <a:latin typeface="Microsoft YaHei"/>
              </a:rPr>
              <a:t>大学生如何正确使用 AI？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109B91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972800" cy="18288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12749"/>
                </a:solidFill>
                <a:latin typeface="Microsoft YaHei"/>
              </a:rPr>
              <a:t>把 AI 当作“学习伙伴”和“思考放大器”，而不是答案代写器。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240280"/>
            <a:ext cx="411480" cy="411480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3113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2749"/>
                </a:solidFill>
                <a:latin typeface="Microsoft YaHei"/>
              </a:rPr>
              <a:t>先自己想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4028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342"/>
                </a:solidFill>
                <a:latin typeface="Microsoft YaHei"/>
              </a:rPr>
              <a:t>明确问题、已有判断与目标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044952"/>
            <a:ext cx="411480" cy="411480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3580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2749"/>
                </a:solidFill>
                <a:latin typeface="Microsoft YaHei"/>
              </a:rPr>
              <a:t>说清楚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44952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342"/>
                </a:solidFill>
                <a:latin typeface="Microsoft YaHei"/>
              </a:rPr>
              <a:t>给角色、背景、任务、格式与限制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849624"/>
            <a:ext cx="411480" cy="411480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3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404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2749"/>
                </a:solidFill>
                <a:latin typeface="Microsoft YaHei"/>
              </a:rPr>
              <a:t>会追问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849624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342"/>
                </a:solidFill>
                <a:latin typeface="Microsoft YaHei"/>
              </a:rPr>
              <a:t>让 AI 解释依据、比较方案、暴露假设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654296"/>
            <a:ext cx="411480" cy="411480"/>
          </a:xfrm>
          <a:prstGeom prst="ellipse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45736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45152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2749"/>
                </a:solidFill>
                <a:latin typeface="Microsoft YaHei"/>
              </a:rPr>
              <a:t>要核验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654296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3342"/>
                </a:solidFill>
                <a:latin typeface="Microsoft YaHei"/>
              </a:rPr>
              <a:t>查资料、做实验、保留引用与过程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D5454"/>
                </a:solidFill>
                <a:latin typeface="Microsoft YaHei"/>
              </a:rPr>
              <a:t>学术诚信底线：如实说明 AI 的参与方式，不提交未经理解和核验的内容。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182"/>
                </a:solidFill>
                <a:latin typeface="Microsoft YaHei"/>
              </a:rPr>
              <a:t>AI 入门 · 大学生课堂汇报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182"/>
                </a:solidFill>
                <a:latin typeface="Microsoft YaHei"/>
              </a:rPr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7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685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8E0D8"/>
                </a:solidFill>
                <a:latin typeface="Microsoft YaHei"/>
              </a:rPr>
              <a:t>09 / TAKE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34440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从理解 AI，到负责任地使用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2402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DDCEE"/>
                </a:solidFill>
                <a:latin typeface="Microsoft YaHei"/>
              </a:rPr>
              <a:t>今天带走三句话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9B91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7249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AI 的本质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743200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ECFE4"/>
                </a:solidFill>
                <a:latin typeface="Microsoft YaHei"/>
              </a:rPr>
              <a:t>从数据中学习模式，输出预测或生成结果。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9B91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6393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AI 的价值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657600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ECFE4"/>
                </a:solidFill>
                <a:latin typeface="Microsoft YaHei"/>
              </a:rPr>
              <a:t>把重复劳动交给工具，把时间留给判断与创造。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9B91"/>
                </a:solidFill>
                <a:latin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5537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AI 的责任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572000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ECFE4"/>
                </a:solidFill>
                <a:latin typeface="Microsoft YaHei"/>
              </a:rPr>
              <a:t>越便利，越要核验、保护隐私并守住诚信。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5806440"/>
            <a:ext cx="5532120" cy="310896"/>
          </a:xfrm>
          <a:prstGeom prst="roundRect">
            <a:avLst/>
          </a:prstGeom>
          <a:solidFill>
            <a:srgbClr val="10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5843016"/>
            <a:ext cx="5532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下一步：选一个真实问题，用 AI 做一次小实验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08076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CDDCEE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